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d5cb48a6a4eff" /><Relationship Type="http://schemas.openxmlformats.org/officeDocument/2006/relationships/extended-properties" Target="/docProps/app.xml" Id="R35d2feb064fa445e" /><Relationship Type="http://schemas.openxmlformats.org/officeDocument/2006/relationships/officeDocument" Target="/ppt/presentation.xml" Id="R6e55cd1d229444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a3fa5c54cd4abd"/>
  </p:sldMasterIdLst>
  <p:notesMasterIdLst>
    <p:notesMasterId xmlns:r="http://schemas.openxmlformats.org/officeDocument/2006/relationships" r:id="Rbbe7a49677c24ff7"/>
  </p:notesMasterIdLst>
  <p:sldIdLst>
    <p:sldId xmlns:r="http://schemas.openxmlformats.org/officeDocument/2006/relationships" id="256" r:id="Rfb0a2f25c02f46c7"/>
    <p:sldId xmlns:r="http://schemas.openxmlformats.org/officeDocument/2006/relationships" id="257" r:id="R60d91f5451a44860"/>
    <p:sldId xmlns:r="http://schemas.openxmlformats.org/officeDocument/2006/relationships" id="258" r:id="R941322a251854f09"/>
    <p:sldId xmlns:r="http://schemas.openxmlformats.org/officeDocument/2006/relationships" id="259" r:id="R7741753269314484"/>
    <p:sldId xmlns:r="http://schemas.openxmlformats.org/officeDocument/2006/relationships" id="260" r:id="R084d2e66672d4ef0"/>
    <p:sldId xmlns:r="http://schemas.openxmlformats.org/officeDocument/2006/relationships" id="261" r:id="R4a38d2eab2cf4210"/>
    <p:sldId xmlns:r="http://schemas.openxmlformats.org/officeDocument/2006/relationships" id="262" r:id="R2dc3291faf3f4c93"/>
    <p:sldId xmlns:r="http://schemas.openxmlformats.org/officeDocument/2006/relationships" id="263" r:id="Reaba0853023f4f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ec07ccae7749f8" /><Relationship Type="http://schemas.openxmlformats.org/officeDocument/2006/relationships/slideMaster" Target="/ppt/slideMasters/slideMaster1.xml" Id="R5da3fa5c54cd4abd" /><Relationship Type="http://schemas.openxmlformats.org/officeDocument/2006/relationships/notesMaster" Target="/ppt/notesMasters/notesMaster1.xml" Id="Rbbe7a49677c24ff7" /><Relationship Type="http://schemas.openxmlformats.org/officeDocument/2006/relationships/presProps" Target="/ppt/presProps.xml" Id="Rabfa04419ebb4681" /><Relationship Type="http://schemas.openxmlformats.org/officeDocument/2006/relationships/tableStyles" Target="/ppt/tableStyles.xml" Id="R23ad00b6719945bb" /><Relationship Type="http://schemas.openxmlformats.org/officeDocument/2006/relationships/slide" Target="/ppt/slides/slide1.xml" Id="Rfb0a2f25c02f46c7" /><Relationship Type="http://schemas.openxmlformats.org/officeDocument/2006/relationships/slide" Target="/ppt/slides/slide2.xml" Id="R60d91f5451a44860" /><Relationship Type="http://schemas.openxmlformats.org/officeDocument/2006/relationships/slide" Target="/ppt/slides/slide3.xml" Id="R941322a251854f09" /><Relationship Type="http://schemas.openxmlformats.org/officeDocument/2006/relationships/slide" Target="/ppt/slides/slide4.xml" Id="R7741753269314484" /><Relationship Type="http://schemas.openxmlformats.org/officeDocument/2006/relationships/slide" Target="/ppt/slides/slide5.xml" Id="R084d2e66672d4ef0" /><Relationship Type="http://schemas.openxmlformats.org/officeDocument/2006/relationships/slide" Target="/ppt/slides/slide6.xml" Id="R4a38d2eab2cf4210" /><Relationship Type="http://schemas.openxmlformats.org/officeDocument/2006/relationships/slide" Target="/ppt/slides/slide7.xml" Id="R2dc3291faf3f4c93" /><Relationship Type="http://schemas.openxmlformats.org/officeDocument/2006/relationships/slide" Target="/ppt/slides/slide8.xml" Id="Reaba0853023f4f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85cad4774849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6227bb32f84dbb" /><Relationship Type="http://schemas.openxmlformats.org/officeDocument/2006/relationships/notesMaster" Target="/ppt/notesMasters/notesMaster1.xml" Id="Rd7d871c5466b42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8b0d16b47438b" /><Relationship Type="http://schemas.openxmlformats.org/officeDocument/2006/relationships/notesMaster" Target="/ppt/notesMasters/notesMaster1.xml" Id="R8dd4d97dc68a40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365682a8e04235" /><Relationship Type="http://schemas.openxmlformats.org/officeDocument/2006/relationships/notesMaster" Target="/ppt/notesMasters/notesMaster1.xml" Id="Rc762c7e57971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22cc708624a1e" /><Relationship Type="http://schemas.openxmlformats.org/officeDocument/2006/relationships/notesMaster" Target="/ppt/notesMasters/notesMaster1.xml" Id="Rda2ca034be894a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052a61193a4de6" /><Relationship Type="http://schemas.openxmlformats.org/officeDocument/2006/relationships/notesMaster" Target="/ppt/notesMasters/notesMaster1.xml" Id="R96f238928d6544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a051b139574b46" /><Relationship Type="http://schemas.openxmlformats.org/officeDocument/2006/relationships/notesMaster" Target="/ppt/notesMasters/notesMaster1.xml" Id="R208b291b0a4843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0619b123214949" /><Relationship Type="http://schemas.openxmlformats.org/officeDocument/2006/relationships/notesMaster" Target="/ppt/notesMasters/notesMaster1.xml" Id="Raf55e541849f46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d6d347a9ff4e00" /><Relationship Type="http://schemas.openxmlformats.org/officeDocument/2006/relationships/notesMaster" Target="/ppt/notesMasters/notesMaster1.xml" Id="R922fb1b1e1f0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17558c28e4d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aceb06af594bc3" /><Relationship Type="http://schemas.openxmlformats.org/officeDocument/2006/relationships/slideLayout" Target="/ppt/slideLayouts/slideLayout1.xml" Id="R087ec45c6c5e47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ec45c6c5e47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3761822ba43fa" /><Relationship Type="http://schemas.openxmlformats.org/officeDocument/2006/relationships/image" Target="/ppt/media/image.png" Id="R66439bb4b6904e1b" /><Relationship Type="http://schemas.openxmlformats.org/officeDocument/2006/relationships/notesSlide" Target="/ppt/notesSlides/notesSlide1.xml" Id="R63282524ecbd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c336d85034334" /><Relationship Type="http://schemas.openxmlformats.org/officeDocument/2006/relationships/notesSlide" Target="/ppt/notesSlides/notesSlide2.xml" Id="R1d6d3270a19b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3eb3b8f7643c8" /><Relationship Type="http://schemas.openxmlformats.org/officeDocument/2006/relationships/notesSlide" Target="/ppt/notesSlides/notesSlide3.xml" Id="Rddf7ae4e29b948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39e7f2f084b61" /><Relationship Type="http://schemas.openxmlformats.org/officeDocument/2006/relationships/notesSlide" Target="/ppt/notesSlides/notesSlide4.xml" Id="R70def745523f4e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e7a9d5064a22" /><Relationship Type="http://schemas.openxmlformats.org/officeDocument/2006/relationships/notesSlide" Target="/ppt/notesSlides/notesSlide5.xml" Id="R94316748d1da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56afad556488e" /><Relationship Type="http://schemas.openxmlformats.org/officeDocument/2006/relationships/notesSlide" Target="/ppt/notesSlides/notesSlide6.xml" Id="Rac30e59f15d64f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4350c3cc74940" /><Relationship Type="http://schemas.openxmlformats.org/officeDocument/2006/relationships/notesSlide" Target="/ppt/notesSlides/notesSlide7.xml" Id="Re331302ef84342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cefdf5faa4254" /><Relationship Type="http://schemas.openxmlformats.org/officeDocument/2006/relationships/notesSlide" Target="/ppt/notesSlides/notesSlide8.xml" Id="R78927d0f4f9a43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39bb4b6904e1b"/>
          <a:srcRect xmlns:a="http://schemas.openxmlformats.org/drawingml/2006/main" l="1128" t="0" r="1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2095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57995-8092-47BA-8D59-2BF779E6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8CC63-83AC-4CA7-926C-7BCA23B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8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SEEG-P  |  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0A6DD-6BBB-40B7-ACE3-5878B0DE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AI Transformation</a:t>
            </a:r>
          </a:p>
          <a:p xmlns:a="http://schemas.openxmlformats.org/drawingml/2006/main">
            <a:pPr algn="l">
              <a:defRPr sz="4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Monthly Meeting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5CA5B-44C2-45DE-A72C-A0377DEE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Operating model • 2026 roadmap • capability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5FAE2-5C71-403D-98BB-D5E733BA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447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2A335-791A-489A-B63B-28261739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10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A252E-74A7-49E3-9E2C-2DA18F9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381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6E70D-7F60-4F41-A713-37ED4CF7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MEETING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91008-C379-46BB-B8CB-9A9ED0DC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Move from AI pilots</a:t>
            </a:r>
          </a:p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to repeatable 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55371-B570-4032-B281-ADA9C71A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82D52-346C-4A98-BD66-1FE0709F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959590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AAB6D-A833-44D2-B0BC-682D363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D259A-FDA0-4D75-9D20-639A01C3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737A0-24D3-4562-874F-F1AC4CE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MEETING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FB17C-F4FD-4992-B64A-0E5D302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Six discussions, one operating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AE7DE-AAE7-4CB2-B074-7CEEE5B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Align the people, delivery system, and access needed to scale process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81459-9E47-47CE-B616-3FA0D6C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06A10-B0F3-49A8-8D5B-0B07BCC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34DB4-E9A2-4F65-AB0E-A5E467D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SEEG-P AX  • 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01D4E-3D94-484A-BF17-4282D727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7565F-37A4-439B-86F6-592EC0E0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18ACD-38D7-4DDB-A73B-BCE332BF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764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AI Crew organization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233DF-B463-4F32-B6B9-3C3E0E71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384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Updated ownership across VD, MX, and common functions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50505-D01E-4F94-BC97-F1A332C1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670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9D4A2-1A57-4F23-9777-1BD6F499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AB840-5C55-4215-8230-A001FEE3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42203-2B51-4AE6-83FB-DFEEA959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AI Crew roles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46608-1085-4A52-BD72-E278697E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Business leadership supported by technical specialists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A9B2E-418A-4C56-8132-A9E30B28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B260D-2347-4B45-AB2C-BC51BEF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8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88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13396-48F7-4125-9998-D3F1E9EA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05A38-A051-41E5-BF12-1D851C6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956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Process map example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5A874-F8A2-4976-AC81-4FC1FDC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576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Refresh the project portfolio through a common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912B8-83DA-4B9E-BF6C-8FA27464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862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C8942-DE6D-4834-8413-E967244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8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88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5A5B2-3A2F-471B-A88D-F8149F7A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385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0C6AC-0859-4D20-B4B6-50096DD6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Gauss agent case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C2D44-2FBB-4A83-9328-B0E9935C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Q&amp;A chatbot and OTD report automation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C5C17-7DE5-4125-BABE-C79CBBCA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1E301-57BA-4861-950F-02770F6B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798AB-275B-4243-81EB-8CC24761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D800D5-DD30-4C19-95C4-1F4824C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148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Training update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7A7F7-81BA-4D92-96C4-7638060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768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Capability building and practical adoption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2A111-2D9C-4CD4-A647-C0C02738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30DF6-2EEC-4BED-91EE-B87BE2FA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D71993-D513-43EB-AA93-2E56066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AI Award introduction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C267DB-BEAD-4FDC-B7D4-2868C87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Recognition that reinforces participation</a:t>
            </a:r>
          </a:p>
        </p:txBody>
      </p:sp>
    </p:spTree>
    <p:extLst>
      <p:ext uri="{BB962C8B-B14F-4D97-AF65-F5344CB8AC3E}">
        <p14:creationId xmlns:p14="http://schemas.microsoft.com/office/powerpoint/2010/main" val="149582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4C209-F556-46D8-9EC7-BD57C308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39CEE-6A91-4C5B-8B0D-63C7A388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F9FC1-F390-4214-8DA5-B76FCDFB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14398-267C-4B60-A6EB-A9098A53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 cross-functional crew connects business problems to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C2999-F5E4-4652-A948-ABBAFCEC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Central leadership sets direction; division teams own opportunities and adoption.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B39A3-EB77-4C07-A7E5-9123282C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55CF6-10E0-4490-A449-A29DBAF5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74D28-CCCB-4A49-81B2-BB47A405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SEEG-P AX  • 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1975D-1470-4FD6-8FFF-88FEC75D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7D543-2D8D-4E68-AF7B-66C17C7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7707F-4811-4470-BA81-A7195221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CD53C-BFC3-4CF0-80F2-5F15568C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346A8-66F6-425B-9492-F0C7F70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765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5D967-FC5D-40F5-996A-4FD92CF7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28800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38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BA576-59C0-4F2B-8BB5-5423A0CC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716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AX G LEADER  •  Abdullah Selim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1359-D9F7-4FD9-A5B5-27B3E8A2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344805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F7766-9709-40F1-9F06-AABAEC2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VD DIVISION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0D6BC-1F9D-4CFD-9BAA-CEEA46A0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0850"/>
            <a:ext cx="8191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961A1-11FF-442A-B098-E661D687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384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17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7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978AD-6266-4A29-A2F6-9CB8FE55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DD46F-6090-405F-8E36-0A0A84D4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883FC-D08D-446A-8582-E245307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SA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92AE9-6108-4073-8764-9CE0C411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Sara Ahmed Fouad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08DD98-7E02-4500-9270-BB35C83C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VD Production 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7E69E-6A81-49C3-BCD6-4F41C427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11861-2422-40A6-9272-190314F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57190-B22A-493E-B0AB-799660F9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Nada Ahmed Abdel Raouf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D6D801-736F-4303-97F5-CF2C0663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VD Production 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22FFC6-EB9A-4C00-95E2-F239352D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05611-D56A-4B15-ADAB-C5E083BF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AW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01728-A934-4D1C-B31C-6D6045AA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Abdelrahman Walid Sayed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8615A2-D774-428A-89C2-633AAAE0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VD Production 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4A7E3-31C6-44D6-ACD9-0F966C06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FFD210-3691-4B46-AB2A-EF420001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2B16B9-FD10-4ADD-8522-98237E6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Seif Tarek Mohsen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2FFF51-89A5-490B-9A16-CE1C235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Engineering 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AD43AD-F20B-460C-89A8-FAEF1921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5217C7-8F2E-449F-AAEF-BCC5F27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OM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E2DC58-DC56-450E-AB52-E3E641B1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Osama Mohamed Ashour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BBAF68-3410-4133-A314-CA5E3911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CS 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5AE2F5-F6C0-4BE0-826F-BDE2152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DDBA25-1C96-4CE6-A6F7-C1B820CC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MN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7D0F2B-BF92-4822-A5F2-C83FEA7E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Mohamed Nabil Reyad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D05D8A-8CFD-46A5-9192-E8724232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721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Procurement 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83345D-8394-4D88-983D-E2293122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4483CD-FFCC-4AE2-8CD7-DB5001E4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KN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8F429A-0867-439F-89D4-4A7725D5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Khalid Nagy Abdelgaleel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5EF013-3E57-44ED-8DAD-566883DC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SCM 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F50A28-F9ED-4E58-9B27-F42DFAB8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38450"/>
            <a:ext cx="344805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3D4274-906C-41CA-B614-9C323047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MX DIVISION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9DC6E9-BAB2-47AE-83FE-6A38BF14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8191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B80103-BA2E-45E8-B706-2BBCD159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17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3 MEMBERS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0395F9-0E13-43FB-9385-0FEEA8FA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3375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B6E4CE-BDDB-4B3E-9408-BB4A4931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05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F16F0A-37AA-4C0F-811D-50D88862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528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MK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2BF42D-69A8-45EF-8350-D7C954DA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861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Mina Kamel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A21D07-D170-4425-AED8-C9DCE690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576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MX Production 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9544A8-488E-4D91-B2C6-E7472F9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1A5CC6-FA3A-432D-8726-C47F10E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957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HO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B74462-75CF-452B-97E5-78CCBEC5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29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Hisham Omar El-Farouk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0C0D39-9C3B-4E2B-B9ED-DAE292F7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005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SCM G (MX)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04425B-C21B-403E-B2A3-B7AABACC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91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AA2F38-AF37-4DCA-ACE6-41514E1C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386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MM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178DBE-8E7B-46DE-A0D3-6BA3BB78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171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Mohamed Maged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7017E8-3766-48BE-BA19-D357716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434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CS &amp; Eng. G (MX)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9AD051-0BDC-46A2-943B-0CE6512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344805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29CB18-86C9-4BE7-B8A3-3DADD082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COMMON DIVISION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6C4FF6-FEE2-4730-ACD8-1B610ECE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90850"/>
            <a:ext cx="8191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7C44AF-67F3-4B84-9392-44FCDF42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384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17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5 MEMBERS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D89817-C292-4D35-ABEA-FB32F2A3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2CA467-989F-48CD-9B27-5BAC338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05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3789E7-369D-469C-AC43-D36DA2F3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528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FS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D608C7-9C0C-46A3-96CB-EAEA2B12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861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Farah Sameh Mohamed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193792-737F-4ADB-9067-7F866B5E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576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People 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30F72A-F701-4E88-AC65-1059724E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3E2FBB-1436-4157-B54F-D9EE3A15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957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AG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491BE9-2DEF-47CC-BF7B-C3DDBAD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29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Ayman Gamal Sayed Ewais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63B4DEE-CAAF-461A-9190-683A0E7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People 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68556E-192F-4AD8-A2F2-D832C22E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D55030-F39F-40E8-910A-206D2CF8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386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MF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DD80D6-5C83-4AA6-BAD7-55E9694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71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Mohamed Fawzy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96E21F3-06DB-4DE3-A54D-5774D0D6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Business Mgmt T — Finance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CC4676-E4D0-475D-8B98-A47EB86B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92D04EA-C1F2-4C38-B6F5-B0AD6579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815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181422A-0DC7-4790-A992-EC537A45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148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Ahmed Mohamed Abdelwahed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F3B31E-C63B-45ED-9848-3C9AB28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863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Business Mgmt T — Gov. Relation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53B4B45-20CF-441C-8D37-5665EDAD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76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8CCAEBB-1EA4-4167-B1D0-0AFFD5C1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24425"/>
            <a:ext cx="228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MA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0252D77-64B0-4ED8-AE63-29690B47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Mohamed Abdallah Ali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E2C10DB-74B7-41DD-A0D5-F9EC4692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292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EHS G</a:t>
            </a:r>
          </a:p>
        </p:txBody>
      </p:sp>
    </p:spTree>
    <p:extLst>
      <p:ext uri="{BB962C8B-B14F-4D97-AF65-F5344CB8AC3E}">
        <p14:creationId xmlns:p14="http://schemas.microsoft.com/office/powerpoint/2010/main" val="1526047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F9869-4634-4D5D-A95B-AE80E47C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84E91-0261-4D3C-B8A4-14774A71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B56A0-2EF8-465C-9D9F-3A4A697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ROLE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44789-D084-41EE-B983-A189223C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Begin with process automation—and make ownership explicit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65E3A-224B-4275-841B-6616B45F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Business roles carry the workflow from opportunity to adoption; specialists secure delivery quality.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5E081-E573-4A9F-B001-3C73A653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F601D-C2F2-46F1-BE70-BF988013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B026C-0191-4493-AF5C-3955D667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SEEG-P AX  • 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D3CF7-EB29-46E1-ACA7-7CCBE5BB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48000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C0DAD-07EB-49CF-8EDD-CA34232A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B7204-CBFD-4959-8ABE-096FD02F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BCB9B-D2AB-4553-8CFF-9B3A1287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B835B-986D-4A25-8F95-114FF8C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67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13A82-A72E-463F-8C85-70B05E7F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672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7BD53-B274-4E9E-A0DC-044D7747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D"/>
          </a:solidFill>
          <a:ln xmlns:a="http://schemas.openxmlformats.org/drawingml/2006/main" w="19050">
            <a:solidFill>
              <a:srgbClr val="19D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BD801-7D12-4B0E-AFF1-18B4DEF2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07673-2864-4264-9C15-3B3E5AAB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Opportunity Finder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26CA5-4CAA-4AEA-ACFE-FD5C3AC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Identify bottlenecks, value, scope, and automation ROI.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1315D-4F08-43D6-9845-736DE5A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D"/>
          </a:solidFill>
          <a:ln xmlns:a="http://schemas.openxmlformats.org/drawingml/2006/main" w="19050">
            <a:solidFill>
              <a:srgbClr val="19D5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6E4F6-3240-4449-B37A-460083FE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0ECAE-67A2-48C3-8190-DD139EE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Process Mapper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F8103-45EC-4B8B-9902-4EA6487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005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Document AS-IS and TO-BE workflows with clear handoffs.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4809C-976F-4F10-9930-398A68AE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D"/>
          </a:solidFill>
          <a:ln xmlns:a="http://schemas.openxmlformats.org/drawingml/2006/main" w="19050">
            <a:solidFill>
              <a:srgbClr val="388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E2FB3-D3F8-463C-AE0B-C754AF5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8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88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CB2DB-2168-4DA0-82AE-871DEF7E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Agent Builder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DF614-1386-4766-B640-F3E0F9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Configure agents, prompts, rules, and safety boundaries.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25E7A-B3EC-49FA-9549-0D7F5E60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D"/>
          </a:solidFill>
          <a:ln xmlns:a="http://schemas.openxmlformats.org/drawingml/2006/main" w="19050">
            <a:solidFill>
              <a:srgbClr val="B56D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770E9-11B1-4A52-B500-4C1164B7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C7985-1A58-478B-ABE7-A407048E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Innovation Leader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10686-0A29-4149-B6E3-F0E1775E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Drive adoption, training, and measurable change.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6DE570-ADF9-44BD-BE5A-57E54917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TECHNICAL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CD0C1-69AE-4CE9-B4C7-B7F9927E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22479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B56D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A604B5-455D-4A98-88D9-7783181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768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Programmer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ADC3A-D8EA-49B0-AD2C-3A1D53E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435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5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Integration logic • APIs • databases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1B89AC-B9EF-4285-9195-40D32840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43500"/>
            <a:ext cx="22479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B56D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2BAA6-6CE9-483A-B277-9911071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768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Data Scientist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4D0FD6-EC27-412C-90D8-01091FC0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435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Models • pipelines • data quality</a:t>
            </a:r>
          </a:p>
        </p:txBody>
      </p:sp>
    </p:spTree>
    <p:extLst>
      <p:ext uri="{BB962C8B-B14F-4D97-AF65-F5344CB8AC3E}">
        <p14:creationId xmlns:p14="http://schemas.microsoft.com/office/powerpoint/2010/main" val="661536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3F8B0-69DF-473D-8E64-A6FFED0B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60B59-34B4-4BF9-B53C-492276D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3FC61-5D64-4A0D-B29B-412646E5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2026 DELIVERY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359F0-7251-427E-A462-9509CB20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portfolio progresses in four deliberate waves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658BB-39DD-413B-875D-CF2E8072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Each quarter moves the program from foundations to enterprise-scale adoption.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17EBD-5304-4EFB-AD48-4E40592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12DD6-B316-4A2F-B83C-FFB99A2D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572FF-FF53-41BE-BC58-C0A9392E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SEEG-P AX  •  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BCF6D-4ABF-483F-8A42-3A8227C7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71750" cy="39052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8A94F-F366-4C0A-8985-3CABFD29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D49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46D49B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E47AE-3C94-4CEF-A3B4-0A26567C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717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16D48-4DDD-4DF5-9CD2-03230FC6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7A2F2-036F-49CC-86A8-0A780EF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2291D-1E45-430D-B96B-1F57DED4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87DA9-27C0-45A6-9AB5-6657EBFA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Data Pipeline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D410D-C536-4226-8D2A-52E5AA0D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B5BE2-5536-43F9-BBED-D81EA4D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340D8-0234-42CB-B3D8-4C30292F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Infrastructure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F5D16-1F11-4676-9F88-97E752F3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45D61-FFDB-4B80-81FF-C919571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D4845-5907-40BA-B4C9-E6549D5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AI Governance Charter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67918-D52C-4B94-B386-AAD44E13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9ED95-D6F0-4858-B706-3C057EA6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26AB0-11D5-47A4-80AA-F35CD95E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Model Sandbox Dev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990DB-E83F-4C97-92D1-7AE6E26B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29311-B1BB-491F-AAC4-0455F6DE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F8D8A-F90C-4C4F-BCA1-4E26F2BB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Finance OCR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FBD757-E3D0-469D-BB30-013E320D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BE1C2E-82AC-4F40-955A-35E7AF60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CF41F8-DABD-49C3-94DD-6D8E79B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Inventory Forecasting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00889D-9A89-4CC2-A927-E870952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571750" cy="39052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640A9-AE0B-4C7C-966C-61D8FC38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6015B-A93B-4CE0-BA80-9031C25E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717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BUILD &amp; PROVE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5CCAE-6AA2-44F8-9B2B-BB92AA6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27A00D-DAD1-40EB-96F1-ADF49729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6A719C-22E8-45D7-9A56-E9A11B74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86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E5397-588F-4B6D-8D07-FA046813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HR Resume Screener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2BF8F6-52D7-4895-B171-CD8D25B7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05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689527-D1FE-4F52-9A06-C527ACC5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0B44F8-4EEB-4350-99F7-4A4FBBAD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Predictive Maintenance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0ABE05-04CA-4942-B9FD-BE6A35A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4648E0-4FE2-40EC-8A0A-57DC10F6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005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7E3D24-F972-4F89-9A4B-00AE852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Log Anomaly Detection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503C31-1163-419B-83C8-45C56D6F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D829E6-8A3A-4FED-B463-21B06969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16ACB3-D6F4-48CA-A468-520788B2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00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Marketing Copy Gen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A50DFC-2797-4F13-8BEE-9AEF822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76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A128B1-8467-4F94-AF98-78EC8B1B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149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D82B67-8AEE-4605-A2B2-E15323AD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57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Executive Dashboard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BFFC65-8CEB-425E-A69D-EF9F2B00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34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A17A18-CF74-42EF-9CF4-4DA3B182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72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791080-F40B-46B5-8AEB-AC3B4C0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1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Fraud Classifier API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F25A2D-A4DE-4AFA-AB57-E713E615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71750" cy="39052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0EE054-F7EA-4017-B820-0CBE65D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49299F-62B9-493B-B958-E096D80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717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ADOPTION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F4D0D2-BF07-4636-AD55-8A9028D9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52A9B5-D3D9-4276-B8D9-2C470278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2E5C09-D21F-43CA-99A2-F59EF91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C9DEA7-3D45-42F8-A06B-BD875CFE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Org Change Readiness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F06433-D722-471C-ABD1-5466419B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5109C7-8B81-48E8-BA93-17DFADA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B410EA-16FE-4B49-A6EE-25C724E0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Data Schema Refactor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285EDF-E39E-455E-A3C0-45D65358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EAAE0A-F050-4D58-9683-5342863B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B45E1E-6335-4C68-8DEF-1CAF6F8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Intelligent CX Chatbot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B07923-1B1E-4DAB-B47A-4036F43E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1577F2-4055-4379-90EB-97586FA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04CB79-35DC-4CE6-B913-24A82CF1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Demand Forecasting v2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688E3A-46BD-41CF-BA30-A3C80048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561AE9-1FCB-4A6D-A516-46E31B08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B6D772-0D41-45B6-A49E-14E2A19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Procurement Model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949365-E0F7-44D7-A8AB-959278C2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685FC5-80EB-487A-98CE-A6AF1EBE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72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EC0D1BF-C1BA-4F24-A939-9935008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1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Support Auto-Route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8B91EE-A903-45A5-8A65-BCFB0CB4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571750" cy="39052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ACEB26-C5F8-4F5A-B68A-412A8B5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860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54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B548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AEAC82-60CF-435D-B161-69A059D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717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48336AA-E1A8-4D91-920B-7793A364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CCDE44-C47F-4404-9FF4-D4775BD3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95806B-5CBE-4D4F-8F18-4CAD6B4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86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D11D8F-178A-4373-B047-6F65A842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Strategic Pricing Bot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0E4C76-E2CC-423A-98BD-C1D4CC3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D1F6393-48E8-400F-9B3E-D936B62B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E53172-815B-49A2-8333-D1914DEA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Retail Recommender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79072B-DE49-4E7E-88D9-73F5AE90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CA2F72-B28C-4469-9E31-C1CDF8A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12C7102-8631-49A7-9B7D-AD2B8E3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43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Supply Chain Optimizer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2A28A9E-C489-4397-A758-8AD85FC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C365B9-B2BA-432E-97BD-A7CBC422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577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3E86F4-B8E3-464E-88B9-6C3B8CA3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00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Legal Contract Analyzer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C9A61DE-BDBF-4173-B728-C5A1EB3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76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CAE3805-E8D4-4AD0-9D96-2281A5E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149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315FA91-8609-49A1-8B69-B666407A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Federated Learning System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E39F23-2AF3-4A0D-8493-5340232F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CC97ED0-1DBB-41BC-8A8E-5856DE69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721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2AADCF-C06A-47E0-BA33-9F43FDA7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1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Annual Program Review</a:t>
            </a:r>
          </a:p>
        </p:txBody>
      </p:sp>
    </p:spTree>
    <p:extLst>
      <p:ext uri="{BB962C8B-B14F-4D97-AF65-F5344CB8AC3E}">
        <p14:creationId xmlns:p14="http://schemas.microsoft.com/office/powerpoint/2010/main" val="618251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F7837-6E33-4551-B328-9847BE1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A6651-D9B9-4882-A0A7-7A57B42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2EFDA-98B7-406E-9EAF-734F7782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PORTFOLIO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5673F-ADB0-4590-BAB3-73F885AD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Nine initiatives are complete; August is the next delivery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84416-58E5-40BE-AB61-05198532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The program has a strong foundation, with four projects active and two moving into MVP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A6A0A-D1A4-479E-9BDF-E5006DC0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24452-EA04-4DAF-9F5C-8543D145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B61E8-8BB3-4471-9AE4-A0318F13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SEEG-P AX  •  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B0F15-3D8E-4C82-9D65-3966F32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6D49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6D49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4EBFE-33C4-4A1D-B43B-D2D23DA4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DD94B-A589-418A-90B1-C4F58BAB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431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7A021-7178-4016-B1C0-E154C5E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860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A269E-BCF8-4EE8-BFB5-6DB7B730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B44EC-E9C2-4F48-A709-EDBFC119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CHANGE PREP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DCACE-D37D-434F-8FA9-CF871357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431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7F3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7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3D98D-FF19-4FD9-9EC7-00CB11F8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MVP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E0230-9FC2-4219-84B8-CB6BE7E2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431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B54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B54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3E2BE-B9B5-4FB0-8871-5404EF9D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860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2AC81-DE83-42A4-8816-6FFD2884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17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13C11-62D7-4C53-B05E-D54B1433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185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30D6B-D994-4679-93B9-F679076B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3143250"/>
            <a:ext cx="46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C1A7F-FBBA-4D85-BC4C-7B5FB1F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3143250"/>
            <a:ext cx="927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5A9B2-0C8D-4BEC-A029-0C73D214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143250"/>
            <a:ext cx="370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69292-822E-4A62-8B34-99D29695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24 initiatives across the 2026 portfolio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61F02B-7316-48E0-A5E5-C6EE10C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2578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A1B34"/>
          </a:solidFill>
          <a:ln xmlns:a="http://schemas.openxmlformats.org/drawingml/2006/main" w="9525">
            <a:solidFill>
              <a:srgbClr val="2448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16334-C295-4132-8F22-DEFB05A6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CURRENT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43A39-678D-44B4-9084-CEE2B0BB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Log anomaly detection</a:t>
            </a:r>
          </a:p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Marketing copy generation</a:t>
            </a:r>
          </a:p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Executive dashboard</a:t>
            </a:r>
          </a:p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Fraud classifier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08A81-2FF4-4F78-B6DD-B0BC22B8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56388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FF7F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C2709-A720-4317-A710-435F0179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ECC22-47C4-4D2B-ACA7-C7AF9A69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529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AUGUST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82F6A-7253-4668-A01B-0AA367D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053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Intelligent CX Chatbot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C63FE4-90D6-48B1-BD33-062656B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67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Demand Forecasting v2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A7E5FF-E5B0-4D2D-95D9-484F8A9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Lock acceptance criteria, owners, and data readiness before MVP review.</a:t>
            </a:r>
          </a:p>
        </p:txBody>
      </p:sp>
    </p:spTree>
    <p:extLst>
      <p:ext uri="{BB962C8B-B14F-4D97-AF65-F5344CB8AC3E}">
        <p14:creationId xmlns:p14="http://schemas.microsoft.com/office/powerpoint/2010/main" val="743859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A472B-7701-4C19-9B48-B8A0C3B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E3C3-2797-4018-BDF7-5AC0B4B7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BFFB6-CDD6-4AA7-870E-E6519DED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CAPABILITY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B81BF-4916-4FBD-B328-8440F89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Match each model to the work—then expand Gauss access safely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489E0-5EFA-4C26-BEBD-2BB973FB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A clear fit-for-purpose model choice improves output quality without adding process complexity.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4B245-F04C-4494-8096-6892BC14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606EB-DAF2-44FD-AD7B-714F661E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8EE4C-33D7-4209-B193-7E38C6C1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SEEG-P AX  •  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B19C5-646D-4A35-A76D-11FD592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D"/>
          </a:solidFill>
          <a:ln xmlns:a="http://schemas.openxmlformats.org/drawingml/2006/main" w="19050">
            <a:solidFill>
              <a:srgbClr val="19D5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3C69D-AE3D-44BB-A2F8-72507277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13C60-2374-43D1-9066-D4AEAED6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0F175-CDD9-4B67-B25E-408DB579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A1110-5C87-4DF0-8F0D-F20AF636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050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CONNECTED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BAB99-210C-45EA-80DF-01CD203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240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Google-connected workflows and current information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3C4C7-E865-40D8-BCBD-D84919E8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Research • Gmail • Sheets •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2C3BB-D695-4877-8FDF-CFAF554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B6641-2766-4618-9FD5-C9DC8A84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D"/>
          </a:solidFill>
          <a:ln xmlns:a="http://schemas.openxmlformats.org/drawingml/2006/main" w="19050">
            <a:solidFill>
              <a:srgbClr val="388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15E6A-0E47-4E1B-B63D-2DF8E1D7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8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8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ADE1B-9719-42B0-90DD-DF73D84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ChatGPT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A34E6-E7BC-4292-B6B6-10C020E0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8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B0121-19A2-4E1F-B2D2-0FE9919E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718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CREATE &amp;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BDB81-8BFD-4436-92C4-2A4A5466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908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Flexible content creation, ideation, and coding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9A809-9E65-4F07-B451-A44F84D2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385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Drafting • brainstorming • debugging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22E40-92E5-4061-A4B2-73B886E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767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F27C3-4CC0-46D9-B9B3-A5A8CFA5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D"/>
          </a:solidFill>
          <a:ln xmlns:a="http://schemas.openxmlformats.org/drawingml/2006/main" w="19050">
            <a:solidFill>
              <a:srgbClr val="B56D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D4BFD-11E5-4F34-8AC7-4C99F71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F56FD-4C49-4666-9DF6-880E2A64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Claude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446AD-4C07-4181-98A3-E8BEF2D2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8B366-D319-46F2-8D0A-0BF739B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386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REVIEW &amp; REASON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F634C-826B-4A11-9795-CAC4162A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576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0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Long-document review and higher-reasoning 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65388-8EBB-4CD3-A3BB-6CA78BF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053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Structured analysis • complex instructions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7836C-2AED-4642-A5C1-0876FB73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13385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19D5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50BCA2-0A4E-4395-8F2E-07155275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GAUSS PORTAL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1803C-5B73-44A2-9E3E-95F3AC7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Permission update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CF5281-C036-4BA8-9EAE-55AB6B7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A9114-6E29-45BF-9904-4DAD71BF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From 3 July, Lab Creator can be granted before required training is complete.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0F7C56-7CD8-42A9-8097-80AFD3F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• Inactive users are excluded</a:t>
            </a:r>
          </a:p>
          <a:p xmlns:a="http://schemas.openxmlformats.org/drawingml/2006/main">
            <a:pPr algn="l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• New users start with Advanced access</a:t>
            </a:r>
          </a:p>
          <a:p xmlns:a="http://schemas.openxmlformats.org/drawingml/2006/main">
            <a:pPr algn="l">
              <a:defRPr sz="105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• Lab Creator is assigned every Friday to new and reactivated users until automation is ready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D6C37-3773-42D5-BA1F-3B8337E6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673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66A21F-23ED-49E8-A79D-28670DE5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1497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WEEKLY ACCESS RHYTHM</a:t>
            </a:r>
          </a:p>
        </p:txBody>
      </p:sp>
    </p:spTree>
    <p:extLst>
      <p:ext uri="{BB962C8B-B14F-4D97-AF65-F5344CB8AC3E}">
        <p14:creationId xmlns:p14="http://schemas.microsoft.com/office/powerpoint/2010/main" val="1112021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E6F6F-E056-479C-A8B7-889E3723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B3633-B51F-4BD8-96E2-1E215D61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6F840-1806-4168-8903-4198024A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0AAEE-59C0-432B-B971-B581CCEF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Three decisions keep the next wave on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19E15-2DE8-4085-9E40-271DA34C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Proposed alignment points for the monthly meeting.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BCD3B-1284-4397-A6E4-D817CECE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11A7E-2A4F-4CEE-B362-881C2D87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BC128-E765-44B9-87A5-6A28B3F7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341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9CC"/>
                </a:solidFill>
                <a:latin typeface="Aptos"/>
                <a:ea typeface="Aptos"/>
                <a:cs typeface="Aptos"/>
              </a:rPr>
              <a:t>SEEG-P AX  • 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71345-1330-4F6F-A994-A8AC036D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D5E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9D5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07902-4F0D-4535-BBCC-E1FB215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440A3-B831-4977-BB40-42E7B0E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336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Confirm process owners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B0A29-8C8D-494B-966C-24B4CAB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3365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Name one accountable owner for every active automation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BCABB-04BD-41AB-9CC4-3B906B7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066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9D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9D90A-3B05-4AB6-B4C4-801CBEFD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955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F8513-19F6-4DF9-A7CB-A9E4F6AD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24200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05B65-2A0F-4992-B386-691C25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F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7F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1205E-EEC8-4C7A-A15F-09F234C8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74316-77F6-4BF1-94D3-9CC4549C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33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Lock the August MVP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790B8-C71C-4BE1-93E7-5D7E3505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Agree acceptance criteria, data readiness, and review dates for both MVPs.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96B37-3073-4FE2-AC31-072FC29E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1066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C9E42-7922-4015-AE5F-AD5565D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95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73CAB-FF0F-42A7-BDC3-A55D85AD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24350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87585-758D-4E81-BBFF-B379C89F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56DF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56DF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49A73-5C3B-4BA0-9598-F0135197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9E137-711C-4829-829A-D6BD4927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33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Align access and training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FD9A9-F27A-4F97-88C8-401D2EE7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3395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9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9CC"/>
                </a:solidFill>
                <a:latin typeface="Aptos"/>
                <a:ea typeface="Aptos"/>
                <a:cs typeface="Aptos"/>
              </a:rPr>
              <a:t>Use the weekly Gauss access cycle while closing capability gaps in parallel.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E93D4-5065-411D-94B0-0980822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066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56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B81AF-E521-4E88-8453-BB2AADFF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958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F"/>
                </a:solidFill>
                <a:latin typeface="Aptos"/>
                <a:ea typeface="Aptos"/>
                <a:cs typeface="Aptos"/>
              </a:rPr>
              <a:t>RHYTHM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371C4F-8304-418B-9585-4D07502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91150"/>
            <a:ext cx="3505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19D5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BEA59-B927-4D2B-A66A-D33F72D5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721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0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Outcome: clear ownership, controlled delivery, faster adoption</a:t>
            </a:r>
          </a:p>
        </p:txBody>
      </p:sp>
    </p:spTree>
    <p:extLst>
      <p:ext uri="{BB962C8B-B14F-4D97-AF65-F5344CB8AC3E}">
        <p14:creationId xmlns:p14="http://schemas.microsoft.com/office/powerpoint/2010/main" val="1113480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2026-07-10T12:01:01.6040000Z</dcterms:created>
  <dcterms:modified xsi:type="dcterms:W3CDTF">2026-07-10T12:01:01.6040000Z</dcterms:modified>
</coreProperties>
</file>