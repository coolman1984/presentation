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c5f9fb6dc4016" /><Relationship Type="http://schemas.openxmlformats.org/officeDocument/2006/relationships/extended-properties" Target="/docProps/app.xml" Id="Rc741f3842dd048a3" /><Relationship Type="http://schemas.openxmlformats.org/officeDocument/2006/relationships/officeDocument" Target="/ppt/presentation.xml" Id="R0697866b8d644c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0471e4a7a4f55"/>
  </p:sldMasterIdLst>
  <p:notesMasterIdLst>
    <p:notesMasterId xmlns:r="http://schemas.openxmlformats.org/officeDocument/2006/relationships" r:id="R385cf9ff40814bf4"/>
  </p:notesMasterIdLst>
  <p:sldIdLst>
    <p:sldId xmlns:r="http://schemas.openxmlformats.org/officeDocument/2006/relationships" id="256" r:id="R08e0e33a93c04150"/>
    <p:sldId xmlns:r="http://schemas.openxmlformats.org/officeDocument/2006/relationships" id="257" r:id="Re5c37a0b3eba4e9a"/>
    <p:sldId xmlns:r="http://schemas.openxmlformats.org/officeDocument/2006/relationships" id="258" r:id="R2cf35c0685ef4664"/>
    <p:sldId xmlns:r="http://schemas.openxmlformats.org/officeDocument/2006/relationships" id="259" r:id="R95ce8069c3b34284"/>
    <p:sldId xmlns:r="http://schemas.openxmlformats.org/officeDocument/2006/relationships" id="260" r:id="Rf2ca580b7c8541f2"/>
    <p:sldId xmlns:r="http://schemas.openxmlformats.org/officeDocument/2006/relationships" id="261" r:id="Rbaa557251281493a"/>
    <p:sldId xmlns:r="http://schemas.openxmlformats.org/officeDocument/2006/relationships" id="262" r:id="R516ff57c999e43c8"/>
    <p:sldId xmlns:r="http://schemas.openxmlformats.org/officeDocument/2006/relationships" id="263" r:id="R76b0d19afef444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35bf1092641b1" /><Relationship Type="http://schemas.openxmlformats.org/officeDocument/2006/relationships/slideMaster" Target="/ppt/slideMasters/slideMaster1.xml" Id="R9ef0471e4a7a4f55" /><Relationship Type="http://schemas.openxmlformats.org/officeDocument/2006/relationships/notesMaster" Target="/ppt/notesMasters/notesMaster1.xml" Id="R385cf9ff40814bf4" /><Relationship Type="http://schemas.openxmlformats.org/officeDocument/2006/relationships/presProps" Target="/ppt/presProps.xml" Id="Rc6bdf5bf4cc14369" /><Relationship Type="http://schemas.openxmlformats.org/officeDocument/2006/relationships/tableStyles" Target="/ppt/tableStyles.xml" Id="Rfd39d94218714e48" /><Relationship Type="http://schemas.openxmlformats.org/officeDocument/2006/relationships/slide" Target="/ppt/slides/slide1.xml" Id="R08e0e33a93c04150" /><Relationship Type="http://schemas.openxmlformats.org/officeDocument/2006/relationships/slide" Target="/ppt/slides/slide2.xml" Id="Re5c37a0b3eba4e9a" /><Relationship Type="http://schemas.openxmlformats.org/officeDocument/2006/relationships/slide" Target="/ppt/slides/slide3.xml" Id="R2cf35c0685ef4664" /><Relationship Type="http://schemas.openxmlformats.org/officeDocument/2006/relationships/slide" Target="/ppt/slides/slide4.xml" Id="R95ce8069c3b34284" /><Relationship Type="http://schemas.openxmlformats.org/officeDocument/2006/relationships/slide" Target="/ppt/slides/slide5.xml" Id="Rf2ca580b7c8541f2" /><Relationship Type="http://schemas.openxmlformats.org/officeDocument/2006/relationships/slide" Target="/ppt/slides/slide6.xml" Id="Rbaa557251281493a" /><Relationship Type="http://schemas.openxmlformats.org/officeDocument/2006/relationships/slide" Target="/ppt/slides/slide7.xml" Id="R516ff57c999e43c8" /><Relationship Type="http://schemas.openxmlformats.org/officeDocument/2006/relationships/slide" Target="/ppt/slides/slide8.xml" Id="R76b0d19afef4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0014cdd22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a7db0cc8e485a" /><Relationship Type="http://schemas.openxmlformats.org/officeDocument/2006/relationships/notesMaster" Target="/ppt/notesMasters/notesMaster1.xml" Id="R9b99d3494176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405f861a74c5b" /><Relationship Type="http://schemas.openxmlformats.org/officeDocument/2006/relationships/notesMaster" Target="/ppt/notesMasters/notesMaster1.xml" Id="Reb5035f2b17f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d2e92bf1ef4b86" /><Relationship Type="http://schemas.openxmlformats.org/officeDocument/2006/relationships/notesMaster" Target="/ppt/notesMasters/notesMaster1.xml" Id="R35283c3dbdb7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7755564044424" /><Relationship Type="http://schemas.openxmlformats.org/officeDocument/2006/relationships/notesMaster" Target="/ppt/notesMasters/notesMaster1.xml" Id="R9c942c063c3f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95f4e0e4f04a62" /><Relationship Type="http://schemas.openxmlformats.org/officeDocument/2006/relationships/notesMaster" Target="/ppt/notesMasters/notesMaster1.xml" Id="R8c92413e895540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747da985f4463e" /><Relationship Type="http://schemas.openxmlformats.org/officeDocument/2006/relationships/notesMaster" Target="/ppt/notesMasters/notesMaster1.xml" Id="Ra8c49dfdb7d243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7d05481dd46b4" /><Relationship Type="http://schemas.openxmlformats.org/officeDocument/2006/relationships/notesMaster" Target="/ppt/notesMasters/notesMaster1.xml" Id="R3adb0a4a278d48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768d104d024635" /><Relationship Type="http://schemas.openxmlformats.org/officeDocument/2006/relationships/notesMaster" Target="/ppt/notesMasters/notesMaster1.xml" Id="R4d36424d21be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b1e882f6d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74f679c40430e" /><Relationship Type="http://schemas.openxmlformats.org/officeDocument/2006/relationships/slideLayout" Target="/ppt/slideLayouts/slideLayout1.xml" Id="R4219a37eea1946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9a37eea1946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05e027c6147bd" /><Relationship Type="http://schemas.openxmlformats.org/officeDocument/2006/relationships/notesSlide" Target="/ppt/notesSlides/notesSlide1.xml" Id="Rd26beca2cf58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3bbf510734da5" /><Relationship Type="http://schemas.openxmlformats.org/officeDocument/2006/relationships/notesSlide" Target="/ppt/notesSlides/notesSlide2.xml" Id="R0fa9827e085d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ad98744f422e" /><Relationship Type="http://schemas.openxmlformats.org/officeDocument/2006/relationships/notesSlide" Target="/ppt/notesSlides/notesSlide3.xml" Id="Rae0b58d0bcd1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3f3e39a0548bf" /><Relationship Type="http://schemas.openxmlformats.org/officeDocument/2006/relationships/notesSlide" Target="/ppt/notesSlides/notesSlide4.xml" Id="R729f5821f05849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43c74c974642" /><Relationship Type="http://schemas.openxmlformats.org/officeDocument/2006/relationships/notesSlide" Target="/ppt/notesSlides/notesSlide5.xml" Id="R2eee2e06d918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ee7b8b6fa4acf" /><Relationship Type="http://schemas.openxmlformats.org/officeDocument/2006/relationships/notesSlide" Target="/ppt/notesSlides/notesSlide6.xml" Id="R840f34c7529445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9573fb684c35" /><Relationship Type="http://schemas.openxmlformats.org/officeDocument/2006/relationships/notesSlide" Target="/ppt/notesSlides/notesSlide7.xml" Id="Re6100634eae741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4a9597ee346f9" /><Relationship Type="http://schemas.openxmlformats.org/officeDocument/2006/relationships/notesSlide" Target="/ppt/notesSlides/notesSlide8.xml" Id="R3e656637cbcd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080B4-017A-4AD0-B5A5-B13580E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92168-8785-49D2-A66F-36E0AA0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2D19E-9A32-488C-AFD9-64B3EF9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FA576-FA8E-4450-B9A1-E9C6883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SEEG-P  |  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E84C-F753-4DF5-A7BF-1193CEE2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EXECUTIVE PROGRAM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20974-4C0E-456D-B0A3-9260115A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Transformation</a:t>
            </a:r>
          </a:p>
          <a:p xmlns:a="http://schemas.openxmlformats.org/drawingml/2006/main">
            <a:pPr algn="l">
              <a:defRPr sz="4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Monthly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901C7-34E7-48EB-B4B3-6ED5F39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139D1-0A8F-4D12-8EDE-0A31B224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Operating model, 2026 delivery roadmap,</a:t>
            </a:r>
          </a:p>
          <a:p xmlns:a="http://schemas.openxmlformats.org/drawingml/2006/main">
            <a:pPr algn="l">
              <a:defRPr sz="15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and capability 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E2807-FE17-46FC-B6C7-0363222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1BA1C-D2F9-4DDE-BDA6-FFA20C4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C2351-AB74-459D-9767-50C9A1C2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41338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BDBB-8B60-473B-B883-67D98D3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480F0-385C-4402-84A3-025C245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from AI pilots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repeatable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B696A-8B25-4BA6-AA7D-257FB00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0813-077E-4603-87EA-6B410F6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20FC6-AF9C-463C-8B0C-283071C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BAF49-F0C5-4F07-98AC-A9C4426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cross-functional</a:t>
            </a:r>
          </a:p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crew 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0A7D6-96C4-42BB-B6F2-A5FF306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1EFA9-815E-4001-BA5A-E8B63BE9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069F2-A157-4F5F-A596-1301AA8E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initiatives across</a:t>
            </a:r>
          </a:p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the 2026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A85EA-67D8-45A9-8B05-46DBD697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B0F5F-3968-4014-9122-9471B71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50E0D-6B12-425C-8889-598A4AE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August MVP</a:t>
            </a:r>
          </a:p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delivery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846B4-97B5-4B55-A6D5-93D548F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7178D-6728-4CCD-B8AD-15CC6BD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816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clarity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A8C47-3410-4524-A414-24A187A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150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Clear ownership • controlled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A6136-1BBE-4B91-A07F-E2F6720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611C1-7F74-4BB6-9074-572CD5F2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91455-F910-4096-860E-D5A0C846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01</a:t>
            </a:r>
          </a:p>
        </p:txBody>
      </p:sp>
    </p:spTree>
    <p:extLst>
      <p:ext uri="{BB962C8B-B14F-4D97-AF65-F5344CB8AC3E}">
        <p14:creationId xmlns:p14="http://schemas.microsoft.com/office/powerpoint/2010/main" val="1548830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1AF25-1A3C-4458-9E65-1A9B82E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1B7D3-C58D-419A-82EE-C5C9F656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A1C2-6D67-4B1E-98A8-2782D14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F7F7-6A95-497F-8B0C-5385089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MEETING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CD9D1-BEE8-46A4-9C07-CAD466E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Six discussions, one operating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1BCCB-F659-4540-8365-DCA774E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Align the people, delivery system, and access needed to scale process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320C-D19D-4B8E-9BDE-5EB445A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7D1DE-10B8-4424-BD6A-8FBBC30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E716-7AE3-4388-9689-E59EFC5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854AD-053E-41EE-B650-70EC997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5A5C6-17E1-4467-AAA1-28E4D3F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C593A-DBCE-4DDD-AD3A-D52082A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70909-3F9D-4564-9BBE-CBD1ABC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Crew organization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1BD9C-38A7-4E56-8D16-A628CDB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Ownership across VD, MX, and common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8B1A1-5E2F-4ACC-934E-ED928A3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9E639-483F-4414-90B8-52BF2105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44A82-31F2-4B84-9B6E-3B97546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88F0E-A719-4EC7-937C-0655271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Crew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07CCB-B386-4723-AD42-BAA3B51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leadership supported by technical specialists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A7F25-D90D-4C3A-9C09-F0CE81F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BA3F4-E466-4F80-B80B-F4C5FF1D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19F0B-CB84-4849-A483-3896A2C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BDF5F-F3CB-4C6C-BFD8-9F95523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Process map example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0F285-8E83-4DE5-A2A4-462500D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 common workflow for updating the portfolio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A3117-0AFA-4AA2-BF03-4BB4742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10960-A31C-4142-AC13-2945DFA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9DE1D-1FC5-4862-87B6-BA8BDE8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CD87C-E611-4947-BD4B-6D96D54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052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Gauss agent case study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82CA4-0B79-451F-8D6F-BA0A29DE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Q&amp;A chatbot and OTD report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521C8-67FD-4B37-B6B7-2298BC7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53FF4-6F47-442D-808D-9ECFB66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9AE7D-56AF-42DB-B864-35A34E3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7A766-9231-42AD-B184-BF6E759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Training update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CC8CA-2939-498C-B831-3692839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Practical capability building for adoption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67AEA-F974-45DA-B20A-0BB4476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F52B1-2381-406B-9A7E-EB6A1CD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26F2A-6C47-46BE-94C6-139FEBA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514B13-9173-4ED2-BEE4-84FD407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43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Award introduction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7E1F3-B018-426D-9C6E-48FB692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Recognition that reinforces participation</a:t>
            </a:r>
          </a:p>
        </p:txBody>
      </p:sp>
    </p:spTree>
    <p:extLst>
      <p:ext uri="{BB962C8B-B14F-4D97-AF65-F5344CB8AC3E}">
        <p14:creationId xmlns:p14="http://schemas.microsoft.com/office/powerpoint/2010/main" val="1941100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B850E-FDCC-4595-9772-E767C5D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73CEC-2FA8-4E81-85A2-54DCEAA1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82A6-8640-49DE-8807-E6739890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29A7-247D-4D8F-B65B-E35587B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E7E1-A0D8-4DDF-B7E0-1660EEA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 cross-functional crew links business problems to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68110-0A53-43BD-A021-B3F4B9A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Central leadership sets direction; division teams own opportunities and adoption.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C5029-99E0-46AB-AC0E-07ECAFC6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52F8-B299-4EBF-834A-4E1BEB3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1D091-5CC2-4CB6-9E97-AC94BDB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D056B-E8CD-457C-8C3E-18EA40B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1E8C5-E438-4FDC-AA66-BF8D0EA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 G LEADER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576B8-7AC6-493B-8B5B-58156A78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76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Abdullah Selim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6A14-834C-47FE-9847-C78DB68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69561-D1BB-40C0-81B7-A5458AB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7E0E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0EB"/>
                </a:solidFill>
                <a:latin typeface="Arial"/>
                <a:ea typeface="Arial"/>
                <a:cs typeface="Arial"/>
              </a:rPr>
              <a:t>One governance line • three delivery communities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58BE5-8872-495A-8EA4-74FCDA7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5052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F6466-BE82-42EF-9DC4-E9943D4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VD DIVISION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DB017-55C3-4031-ADB2-F864D43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44EA1-0F12-4935-B112-6A11761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9E21F-CF73-40C2-B628-88B4804E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28976-EDA4-45A5-BA40-B456BEF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2F6D8-A034-41EA-A4D3-6834AA68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11BF9-1B28-4FC3-9EB4-AEDCCAA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Sara Ahmed Fouad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443F9-150F-4383-BEE4-A696EC4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83433-48E2-4844-B374-AF72ADC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2CA0F-9EEC-417A-9703-2F6677E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F7C60-9027-4EF1-B7CF-5F02ADB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Nada Ahmed Abdel Raouf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A2E83-90F2-4004-8CED-ED1D538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C2307-59E3-462E-9C9A-ED8BFC7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27200-D3A1-4670-BE09-CA3442B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D9836-9725-4F33-966D-AF434F1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Abdelrahman Walid Sayed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5C3F0-FD37-4157-8300-2825D15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51AA3F-0629-47F2-AB7E-31F7F19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97D95-00AB-490F-959A-2C0F03E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C2B23-51FF-43E3-A87D-EA40DDFF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Seif Tarek Mohsen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8650C-F808-4833-9DAB-7B550F1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Engineering 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0AC06D-3606-4FC9-A129-0D5B5C8E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BD9C7D-9DFD-4C61-9438-0DAD93E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DFD246-72F5-4B67-9947-B194491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Osama Mohamed Ashour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1ADCC-1777-4671-82C3-1A22DAB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CS 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EB8B5-80C1-429C-B444-CA06DCD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F0E27-A067-45A5-A620-5526976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31197C-43B6-4A32-AE90-95F922A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Nabil Reyad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51A30A-046B-49B4-A22B-FB9F7CC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Procurement 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FBAE40-4787-47D1-9D0C-35BCEC33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03684-3998-4B9D-9B55-27B142B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D22997-91A8-4067-AF11-57D9B2B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Khalid Nagy Abdelgaleel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F9308E-D0F1-4894-BD47-E9471BE4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SCM 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92F235-08A3-4C0C-9F2B-8A28C6C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F79264-6CAD-40D4-B548-5714AA57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MX DIVISION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7BAF57-E94F-4429-B9E8-ECF3833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E3A3D4-64EC-4D3A-B94B-0D6E4374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MEMBERS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4CC3CF-8AB8-4B0C-A4A7-DC3D582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532F3F-9D43-4A4A-90D5-FF200491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CEFC1B-01C2-4FB9-A055-C364F7D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8241B3-67EA-403D-8A1A-D83694E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Mina Kamel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C88D21-5DF0-4377-B6DA-CAB0FCF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433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MX Production 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53E41-B04E-4B8E-B6CB-A76F149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9F2D78-939B-44EE-B04D-5942511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E864A2-C557-4610-B053-785CB40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338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Hisham Omar El-Farouk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AA14B2-8FE5-4946-8E15-2F4EA35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052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SCM G (MX)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C98CE1-BFC8-4743-820B-84259A0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9AA826-9499-4063-B39F-703B352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3A34E0-BEA0-4732-A2A7-4DBA3A2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Maged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C7AC9E-D5E5-4B1B-9918-6395EDA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672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CS &amp; Eng. G (MX)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BD4F72-A4E6-4EDA-8946-F51FAC7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5052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8F83F3-EDB2-446C-8DE7-F58E2AF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COMMON DIVISION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775F0E-62F2-4FDA-9AC4-B235E78E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00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B956B8-66DB-4CE2-8A50-3AB0737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MEMBERS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E29725-7693-464F-B9BB-7751223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41E9DD-B9F3-4E41-9BFB-F416133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A0F927-0C9A-4ED2-9F19-136FB4E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290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A9147-1ED9-42D7-B1C5-7622764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Farah Sameh Mohamed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794F55-AF07-479F-8C25-69853F7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People 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43EF2B-3CF9-4477-96DF-9E15539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2C1A34-8120-4B58-9B3E-B253188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28130E-C392-4FF9-89C4-F6E28AB7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Ayman Gamal Sayed Ewais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9878BF-F585-49FD-A0D9-C2012D90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People 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11211A-2245-480B-8F5F-1C7A0746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7EBF2F-AC1F-4316-927B-663CEE5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MF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6FCFFB-159A-4E63-B824-528C0F5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Fawzy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8C299B-8BB1-47E9-95C9-7C91A1F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Mgmt T — Finance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A19101-5C57-43EC-AEAC-CE2C3D6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FE294D-1ADE-4261-B970-3A948694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5C3012-9083-4C78-814F-744A678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577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Ahmed Mohamed Abdelwahed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DEC37D-401B-478C-B0C2-45DD187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Mgmt T — Gov. Relation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D3F839-8B5E-430F-9679-B831F65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9FB5AE-B536-41E0-8F48-CD19D18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CF9E3D-5406-478D-87E8-C23E6A3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Abdallah Ali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6683F7-A19F-427D-9999-B15F3D1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911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EHS G</a:t>
            </a:r>
          </a:p>
        </p:txBody>
      </p:sp>
    </p:spTree>
    <p:extLst>
      <p:ext uri="{BB962C8B-B14F-4D97-AF65-F5344CB8AC3E}">
        <p14:creationId xmlns:p14="http://schemas.microsoft.com/office/powerpoint/2010/main" val="1683578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39FDC-6EF9-49BB-AB87-A532ABB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6CF2A-39E8-41EC-8AF0-D4C19DB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94354-8DDE-48FF-990E-9775560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7582-C34A-448B-B2E3-84085E1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ROLE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391C0-A7F7-498F-B0CB-71D728FA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Begin with process automation—and make ownership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0F9CB-E45A-44C3-AC19-75C5C97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roles move the work from opportunity to adoption; specialists protect delivery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94C3-439F-4FD6-ABDA-D7ED9A98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64A8D-16AC-49A8-B75A-382E07C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0852B-9171-4E9A-97A9-01274BE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6E567-0A70-451A-9D30-045861F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882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45989-FD7D-407F-BFE2-1CBBD232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86075"/>
            <a:ext cx="285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9819F-49D1-4E77-B58D-07E79B6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B483C-2AA9-4AEA-95BC-E6B8C38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DC2B2-0FA1-405B-9C0F-48D4B8CA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4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Opportunity Finder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9274D-E08E-49CB-B132-50354187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Identify bottlenecks, value,</a:t>
            </a:r>
          </a:p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scope, and automation ROI.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8905B-C769-4A08-803C-8306921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27CB7-1FA5-4636-AB31-DE97152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49AE5-C423-4036-8EFD-8285BD8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Process Mapper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8D222-CB60-414E-85C2-89C227CF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Document AS-IS and TO-BE</a:t>
            </a:r>
          </a:p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workflows with clear handoffs.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2C2C0-F3F2-41C2-A710-305FDF5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943B9-BCC3-4D3A-B2B6-560EDD1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6ACEA-21DD-4EA4-AF5E-A29066F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Agent Builder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8296F-6290-4617-8B01-663D8C1D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Configure agents, prompts,</a:t>
            </a:r>
          </a:p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rules, and safety boundaries.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06A20-2BEE-4648-B3C2-D7EFE37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7187E-096E-485A-A041-F26EDBB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A815E-2171-4B0B-BC67-20D0CB8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Innovation Leader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EA606-7EAF-4D23-9441-5F929D8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Drive adoption, training,</a:t>
            </a:r>
          </a:p>
          <a:p xmlns:a="http://schemas.openxmlformats.org/drawingml/2006/main">
            <a:pPr algn="ctr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and measurable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2459F-CD47-4389-B34C-3B90C7B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TECHNICAL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58F2D-95BD-4E55-86C8-DF75C5EB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015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3CB29-F60B-4981-B008-19E6E14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816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74D59-B7F4-4927-A19A-CCCC531F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054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Integration logic • APIs •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DFA08-2F64-4FDD-87A8-55B621E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22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6C8AE-1C1D-43BE-BA53-988010B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Scientist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D8994-9489-4861-9E30-5DC132D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Models • pipelines • data quality</a:t>
            </a:r>
          </a:p>
        </p:txBody>
      </p:sp>
    </p:spTree>
    <p:extLst>
      <p:ext uri="{BB962C8B-B14F-4D97-AF65-F5344CB8AC3E}">
        <p14:creationId xmlns:p14="http://schemas.microsoft.com/office/powerpoint/2010/main" val="1620235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22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C169A-D2F2-437A-B91D-E2171AAB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64FBC-A5F2-46D2-A7A2-FCC0774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CA85A-B675-4277-8C16-009C7A8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 DELIVERY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3670C-596C-459A-93FB-203CA8D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portfolio progresses in four deliberate waves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81A07-96B5-4023-89EA-CA92A78C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Each quarter moves the program from foundation to enterprise-scale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84FB5-BB63-4362-874B-17044CC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E93C8-332F-42FD-BE13-B7BB499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4D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4D4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ADE3-8E1C-4656-97BA-697F72F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SEEG-P AX  •  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538FE-23DB-47FE-9DA6-0ACB29C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15CF5-7673-4003-8E8A-1F94A70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11CC4-E37A-4443-8E5D-79063BE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7656F-6D46-4448-811C-347BB4E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7E94C-DF96-42C3-9C7A-BA7C38A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556FC-1FA3-420C-9D92-1F2B172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041E5-8AE5-4B21-94F4-2A692FA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Pipeline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8C6AD-D3FF-4A1F-9BB0-1DDB8FB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E8992-F7E8-4043-A867-214822B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E6B74-EB8E-400B-80B4-721FEF9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Infrastructure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F08B9-A990-4327-A71A-0CD18B1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12AC6-EC22-47B1-A8D1-E897B9E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74D65-FC20-435C-B139-4CC3438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AI Governance Charter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7247F-3BEA-4D4D-9EE6-418ECBA0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C650F-51E0-477F-9A05-DCAF5B9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0BE91-9140-4892-BBC8-CB8C65B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Model Sandbox Dev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B1049-9817-4039-9D78-EC2D4A87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B5B3B-8AB8-4FF4-A524-0334682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6F750-1299-481F-AD11-E724FD4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Finance OCR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23940-F766-423B-98C0-5436B96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3100B-F053-41CF-8BF2-743C372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274B3-6CB3-4E49-816F-97D16F9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Inventory Forecasting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E337B-508F-4F11-9603-0681620E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87B57-6754-40FB-A258-BFA20B6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D3A61-0558-4EC4-BCD3-DE405CE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BUILD &amp; PROVE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35C2A-0AA5-4B65-BB5A-01C81B1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49571-4118-4D65-BEC8-5D1E222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673A7-81E7-4906-80D5-2525D7A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C41A3-9818-48AB-801D-5D89D62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HR Resume Screener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AAF69E-DB68-43ED-A14D-D0573C7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38E9E-1ACE-441E-B0C8-9F7F6BB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E14B5-A2E8-4C41-9A6D-E4906AE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Predictive Maintenance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58D50-164D-4BB1-A17B-083C648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15412-DFE8-4C5E-BCD8-DA6FAC5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0148A9-3650-4BC0-B8A7-D74B87B1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Log Anomaly Detection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A35B32-BA15-43F7-A519-19F0D90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785BF7-CB9B-4C72-A79A-6C10640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B050C4-5BD7-411A-B79B-9F635AB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Marketing Copy Gen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89C0AE-1FEB-4903-A80A-0EBB1E99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083236-3F22-48B3-A33E-2153085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25243-14F7-47FD-9276-25D5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Executive Dashboard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14C08-1860-420C-BE7B-985CE05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2D6560-30E2-4D73-B87C-9753990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675199-B276-4F4C-8800-4FD9A09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Fraud Classifier API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CD53AA-270B-4704-9D6C-7CB742C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25EE8F-A006-48E1-91DF-D414E76C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59BDD8-71B7-4882-9001-E17C548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ADOPTION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C5C51A-ED7E-45EF-9E55-54E898A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E7666D-6223-4E5C-997C-F8F338D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3DE862-ECEA-41F2-A310-E43C743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142050-0448-4D62-8A56-849E3DA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Org Change Readiness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1150EC-60B6-4DFE-BA06-CE208FB3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309DBE-F497-4435-BAB3-0C4C319B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106032-B34A-4EB8-8B53-EAD08D5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Schema Refactor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438349-CF72-41B1-8303-373FEAC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51CC7-F82F-4319-9D53-4F51362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3B7B6F-8FF5-42E4-B4C7-F5704E8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Intelligent CX Chatbot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13B95B-FAD6-4266-8100-4C011AF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02ED31-DD23-4DB9-AA24-C30F5A6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2C23CA-F838-434C-A1DB-9155569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Demand Forecasting v2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592C86-CEEB-4BB5-9046-31DB473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00CD9B-FA4A-49F4-9204-ED3E234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FBA06D-EF88-43F8-A9A6-C1E59C0B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Procurement Model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99D628-E071-40E1-B1D9-E1B4D42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15252F-8A17-4107-A839-6C2DB2E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983756-A538-4004-95D6-90943760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Support Auto-Route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83E70C-ED0F-4C05-BF72-DF19425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2B7CDB-6D78-4267-AF9F-78065D8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3E0612-10F3-43BA-95DA-51841F1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5A0720-6BAB-4D42-9220-B701B1B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AA6362-56CC-43EF-AA12-A48AA2F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5A7628-2E3A-4AA5-9621-D7B1063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611515-659A-427B-A068-61D5686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Strategic Pricing Bot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457041-1041-42F3-923D-6903DA8E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CB864A-D532-4551-9890-125488D1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D80B02-C8CB-4F6F-B0E2-0F47AEDD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Retail Recommender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3521A4-A9BD-4C7B-9E68-F3ACFFE9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F1603B-61BD-4C26-AE73-97A1DC8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1C7FA7-6252-4831-AF30-E28BA52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Supply Chain Optimizer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855291-E94E-415E-8723-2F180A1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B856CB-4261-41FB-A376-D5F4553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E68561-3021-416C-B025-1FCC4C2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Legal Contract Analyzer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AD2FA73-2F41-4339-9F83-60F03FE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D96292-4EE8-448B-B2DA-DCDE054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9E7E51-2641-4585-88D2-6F2E3BB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Federated Learning System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6766F7-9334-498B-968D-17A8D43F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1FA0DB-8AE3-4C43-8946-8A4DCBC2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B02A7D-A595-492C-8783-EAD1851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Annual Program Review</a:t>
            </a:r>
          </a:p>
        </p:txBody>
      </p:sp>
    </p:spTree>
    <p:extLst>
      <p:ext uri="{BB962C8B-B14F-4D97-AF65-F5344CB8AC3E}">
        <p14:creationId xmlns:p14="http://schemas.microsoft.com/office/powerpoint/2010/main" val="972708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48D5D-B036-44AE-BDB2-D6B142FB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637F4-34C1-413B-9830-4519546D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E0684-995D-4BBC-8059-EDD0A7B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5FF45-2A7F-49C7-8018-51F809E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PORTFOLIO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B20D2-0750-4CC0-9DC1-1F614A6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Nine initiatives are complete; August is the next delivery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AFCD9-B9C0-4432-9839-08A79EF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The foundation is strong, with four projects active and two moving into MVP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04475-5E22-4747-8084-E1FD256E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7C0B-8CFB-4161-83E6-3404CE5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D7C3D-6515-4B84-ACDA-8237C84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23016-2A1A-4F10-A047-611E072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96D31-EAB5-4F3E-A835-C57F615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9E40C-2E15-4DB2-9AE6-D0D46C1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1A8C8-AAD6-4409-BDD7-66DB29E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00D73-21A0-4C7A-B9BD-F7FAAB7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EADE8-3A4E-45FF-858B-C342880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5E32D-3C2B-4458-A70F-CBA59FD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EE874-BA02-4FF6-9566-9410ADD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02CBD-641E-4B53-9770-F3C6AB6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CHANGE PREP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09526-FECF-49E6-9C3B-37A95030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87E42-D1D7-43E5-A54E-762D378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8322A-CB94-46DD-98F6-F6885D9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D414F-88EA-4F41-B7F3-A65552E4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0F87C-0E22-4DEB-9EBB-3D58892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A38F2-2451-44F4-B9CE-60C4848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AD4DF-325F-494D-8F28-2C82DD4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82431-5C4B-4071-B8A6-CAC2C97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85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F90F0-6239-47EB-B246-E621FF62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3238500"/>
            <a:ext cx="46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8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47AF2-D303-4F42-BBA0-9B712EE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3238500"/>
            <a:ext cx="92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5A0F9-4633-4243-BA0E-757205E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238500"/>
            <a:ext cx="370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AFF59-9915-4A58-B019-84DEA05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24 initiatives across the 2026 portfolio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6A4D2-21A6-441A-8682-26E653A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19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6E228-AC95-4489-B245-0D7C61A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CURRENT 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05E69-9BC7-495A-B072-3320612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58935-564D-4A3D-BC46-E2D5314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Log anomaly detection</a:t>
            </a:r>
          </a:p>
          <a:p xmlns:a="http://schemas.openxmlformats.org/drawingml/2006/main">
            <a:pPr algn="l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Marketing copy generation</a:t>
            </a:r>
          </a:p>
          <a:p xmlns:a="http://schemas.openxmlformats.org/drawingml/2006/main">
            <a:pPr algn="l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Executive dashboard</a:t>
            </a:r>
          </a:p>
          <a:p xmlns:a="http://schemas.openxmlformats.org/drawingml/2006/main">
            <a:pPr algn="l"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Fraud classifier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D9C27-F069-4E99-9167-DD02AE5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567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6549F-0D8E-4E4C-827D-071C586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B5E5F0-62C8-447F-88C5-6F028E6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AUGUST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2E0DE9-1842-4401-80FE-C5825111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2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Intelligent CX Chatbot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3E0A2E-66ED-404A-A5F7-58ED718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67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 Forecasting 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D0667-99E2-4204-A8E0-E30E746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Lock acceptance criteria, owners, and data readiness before MVP review.</a:t>
            </a:r>
          </a:p>
        </p:txBody>
      </p:sp>
    </p:spTree>
    <p:extLst>
      <p:ext uri="{BB962C8B-B14F-4D97-AF65-F5344CB8AC3E}">
        <p14:creationId xmlns:p14="http://schemas.microsoft.com/office/powerpoint/2010/main" val="700795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D778C-D4E6-4836-8C25-EB7E42B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26D6A-D71E-4D7D-8E8C-9A396223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7B364-A7AF-4CE6-86C9-8BBD3ED4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CF575-D9EC-4E65-AB39-35EA354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CAPABILITY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5E3C-5F57-47F0-BF1B-EC4F8B3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Match each model to the work—then expand Gauss access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443D8-97B2-4EB7-8902-B9A37AF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Fit-for-purpose model selection improves quality without adding process complexity.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E4B64-729D-43F2-92B4-3C871C6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AE404-1757-4846-B284-0854046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04EC-1D00-4F3B-A128-88D2355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D181F-4D12-4137-80F6-AB707C3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44D6-D739-4F00-94F2-3830E6CD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402CD-A7B6-4F73-9D74-B9E21FE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E4AE1-89DD-4A19-985D-31ADF81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52331-9887-4294-9901-EED5261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8B284-FC95-4F85-84F4-95A932C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4809-9031-472E-871F-D44A988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Google-connected workflows and current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126A2-DAE2-41FC-95A7-2C89493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Research • Gmail • Sheets •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60144-20FD-4EF3-BC88-AAE1E43B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5091F-EBB5-48E1-BABB-C658F60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63EF2-8297-47E3-BB31-1A74CE9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DA9E8-3449-439E-AF75-EE771E8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D347D-3A16-4715-9F17-AA98E86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42389-9BCE-4142-BE60-EE38CB1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&amp; BUILD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4F02B-5433-462D-A6B4-9383C73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Flexible content creation, ideation, and coding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0A049-ED8D-42AC-A46A-086BB9B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Drafting • brainstorming • debugging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8F36A-6AFB-4D27-B0C9-BD416EBA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63F0E-C50E-4397-B3B5-F142000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9E37B-8A86-4CB7-8445-55B2165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B0171-2E0C-4739-B80E-94AA7998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D720F-D144-4881-A769-DD7D1F7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FE41F-1850-4087-AD31-992286CD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REASON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4BBAB-C9EF-4C08-B086-5B1F1903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Long-document review and higher-reasoning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988DB2-0734-40D8-98F8-8BA7DA3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Structured analysis • complex instructions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C0E97-DDD5-4A8F-9B3C-5904422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724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85639-2918-44BF-83C7-E6D74E19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GAUSS PORTAL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A83C39-A7C8-4845-B313-3E293C8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A465F9-4967-47AC-8E63-07AC43D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2B3A9-3550-429C-AD55-01119A0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3 July, Lab Creator can be granted before required training is complete.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28001-1E4B-4051-83A4-7A9C295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Inactive users are excluded</a:t>
            </a:r>
          </a:p>
          <a:p xmlns:a="http://schemas.openxmlformats.org/drawingml/2006/main">
            <a:pPr algn="l"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New users start with Advanced access</a:t>
            </a:r>
          </a:p>
          <a:p xmlns:a="http://schemas.openxmlformats.org/drawingml/2006/main">
            <a:pPr algn="l"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Weekly assignment for new and reactivated users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4B35F0-857F-49C5-9FEF-3B53F69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245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C3B8BA-AF36-441E-A92C-6D8E197E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8165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ACCESS RHYTHM</a:t>
            </a:r>
          </a:p>
        </p:txBody>
      </p:sp>
    </p:spTree>
    <p:extLst>
      <p:ext uri="{BB962C8B-B14F-4D97-AF65-F5344CB8AC3E}">
        <p14:creationId xmlns:p14="http://schemas.microsoft.com/office/powerpoint/2010/main" val="1229237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22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1FCB1-6D71-47D8-8C1A-58F057B0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97BEA-5852-4FA4-8AC5-856002B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0824-0ACC-48D4-87A2-3FB9B38E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93F56-F0D1-4DBC-A34B-64192D4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decisions keep the next wave on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E04A-D189-4F7F-9B4E-13E3EC1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Proposed alignment points for the monthly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5A04-D707-4FCF-AC1D-2B8FB73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36841-63C8-4BC8-AE98-976247F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4D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4D4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1CC97-7102-4AB9-BAE3-13B3C9A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SEEG-P AX  • 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1B830-3BAD-4727-9CEC-E2FA3AB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64E2-6103-4AA7-99F5-5CBB2D7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9818E-FCBE-4863-9CC7-5B1763C9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DF518-419B-41A4-B3EA-81C67C7B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Confirm process owners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C8F2D-A740-476A-8D29-371E4C9F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Name one accountable owner for every active automation workflow.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B4548-308F-410B-A7EE-099726D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C3624-18DC-4106-8B0F-CB30A76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708D1-0BFD-4F4B-8FB0-B09934B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4342-7C60-4B7A-A716-1AA86B3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987E0-E883-47A3-AE4B-1412F73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815E9-625F-4D66-A250-BA0EAF6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Lock the August MVP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124FB-112C-4A16-996B-799599A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Agree acceptance criteria, data readiness, and review dates for both MVPs.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7B3B4-1F39-4065-B237-10F3337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09D71-AF49-430D-BCA0-9D1F9E23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F5023-DC03-4A1C-B95D-4390AEB2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4CA4F-58D7-4E99-8E44-829357B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01A05-A907-4584-B256-2ECB1FA4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4E0FC-D0AB-4DE1-9F7F-22A0251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Align access and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B93CF-19FC-46BA-9657-A61739D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Use the weekly Gauss cycle while closing capability gaps in parallel.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35FD0-82AF-42A4-9DC9-3B22897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978B4-7FC5-4308-964A-3532E27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RHYTHM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A96AF-7747-4B95-8636-E651D84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A1C7D-A909-40EB-BCCB-9F4916E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81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ownership • controlled delivery • faster adoption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1464B-4A62-4021-B54B-B6871BA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76925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1939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2026-07-10T12:18:21.2710000Z</dcterms:created>
  <dcterms:modified xsi:type="dcterms:W3CDTF">2026-07-10T12:18:21.2710000Z</dcterms:modified>
</coreProperties>
</file>